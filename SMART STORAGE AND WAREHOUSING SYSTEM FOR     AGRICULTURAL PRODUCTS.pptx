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E71B08-60C2-4CBE-83FC-C90AD1992488}" v="8" dt="2026-04-09T09:59:59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SHEK S" userId="1fe70e5c8fde9d61" providerId="LiveId" clId="{8C150BB2-9218-488B-B012-E3F261622E26}"/>
    <pc:docChg chg="undo custSel addSld delSld modSld">
      <pc:chgData name="ABISHEK S" userId="1fe70e5c8fde9d61" providerId="LiveId" clId="{8C150BB2-9218-488B-B012-E3F261622E26}" dt="2026-04-09T10:03:50.887" v="1355" actId="255"/>
      <pc:docMkLst>
        <pc:docMk/>
      </pc:docMkLst>
      <pc:sldChg chg="addSp delSp modSp mod">
        <pc:chgData name="ABISHEK S" userId="1fe70e5c8fde9d61" providerId="LiveId" clId="{8C150BB2-9218-488B-B012-E3F261622E26}" dt="2026-03-24T07:52:18.421" v="312" actId="478"/>
        <pc:sldMkLst>
          <pc:docMk/>
          <pc:sldMk cId="669665175" sldId="258"/>
        </pc:sldMkLst>
        <pc:spChg chg="mod">
          <ac:chgData name="ABISHEK S" userId="1fe70e5c8fde9d61" providerId="LiveId" clId="{8C150BB2-9218-488B-B012-E3F261622E26}" dt="2026-03-24T07:51:56.290" v="311" actId="20577"/>
          <ac:spMkLst>
            <pc:docMk/>
            <pc:sldMk cId="669665175" sldId="258"/>
            <ac:spMk id="2" creationId="{2874E045-7DF1-6CA0-2E77-1C05C4AFA86A}"/>
          </ac:spMkLst>
        </pc:spChg>
      </pc:sldChg>
      <pc:sldChg chg="addSp delSp modSp mod">
        <pc:chgData name="ABISHEK S" userId="1fe70e5c8fde9d61" providerId="LiveId" clId="{8C150BB2-9218-488B-B012-E3F261622E26}" dt="2026-03-25T10:25:23.154" v="326" actId="1076"/>
        <pc:sldMkLst>
          <pc:docMk/>
          <pc:sldMk cId="438650592" sldId="261"/>
        </pc:sldMkLst>
        <pc:spChg chg="mod">
          <ac:chgData name="ABISHEK S" userId="1fe70e5c8fde9d61" providerId="LiveId" clId="{8C150BB2-9218-488B-B012-E3F261622E26}" dt="2026-03-25T10:23:52.863" v="318" actId="20577"/>
          <ac:spMkLst>
            <pc:docMk/>
            <pc:sldMk cId="438650592" sldId="261"/>
            <ac:spMk id="2" creationId="{C030B485-5736-2382-C56C-1F9FC1BB8E61}"/>
          </ac:spMkLst>
        </pc:spChg>
        <pc:picChg chg="add mod">
          <ac:chgData name="ABISHEK S" userId="1fe70e5c8fde9d61" providerId="LiveId" clId="{8C150BB2-9218-488B-B012-E3F261622E26}" dt="2026-03-25T10:25:23.154" v="326" actId="1076"/>
          <ac:picMkLst>
            <pc:docMk/>
            <pc:sldMk cId="438650592" sldId="261"/>
            <ac:picMk id="6" creationId="{0032E771-EB62-0D57-6D95-508FD6B48248}"/>
          </ac:picMkLst>
        </pc:picChg>
      </pc:sldChg>
      <pc:sldChg chg="modSp mod">
        <pc:chgData name="ABISHEK S" userId="1fe70e5c8fde9d61" providerId="LiveId" clId="{8C150BB2-9218-488B-B012-E3F261622E26}" dt="2026-03-25T10:35:29.658" v="969" actId="20577"/>
        <pc:sldMkLst>
          <pc:docMk/>
          <pc:sldMk cId="1941089371" sldId="264"/>
        </pc:sldMkLst>
        <pc:spChg chg="mod">
          <ac:chgData name="ABISHEK S" userId="1fe70e5c8fde9d61" providerId="LiveId" clId="{8C150BB2-9218-488B-B012-E3F261622E26}" dt="2026-03-25T10:35:29.658" v="969" actId="20577"/>
          <ac:spMkLst>
            <pc:docMk/>
            <pc:sldMk cId="1941089371" sldId="264"/>
            <ac:spMk id="2" creationId="{3266FFD4-436D-18C4-75B3-BF3FC6538641}"/>
          </ac:spMkLst>
        </pc:spChg>
      </pc:sldChg>
      <pc:sldChg chg="modSp mod">
        <pc:chgData name="ABISHEK S" userId="1fe70e5c8fde9d61" providerId="LiveId" clId="{8C150BB2-9218-488B-B012-E3F261622E26}" dt="2026-03-25T10:36:38.487" v="989" actId="20577"/>
        <pc:sldMkLst>
          <pc:docMk/>
          <pc:sldMk cId="3379265506" sldId="265"/>
        </pc:sldMkLst>
        <pc:spChg chg="mod">
          <ac:chgData name="ABISHEK S" userId="1fe70e5c8fde9d61" providerId="LiveId" clId="{8C150BB2-9218-488B-B012-E3F261622E26}" dt="2026-03-25T10:36:38.487" v="989" actId="20577"/>
          <ac:spMkLst>
            <pc:docMk/>
            <pc:sldMk cId="3379265506" sldId="265"/>
            <ac:spMk id="2" creationId="{B87533B0-0EFC-B5B4-3973-247A889B10B2}"/>
          </ac:spMkLst>
        </pc:spChg>
      </pc:sldChg>
      <pc:sldChg chg="addSp delSp modSp new mod">
        <pc:chgData name="ABISHEK S" userId="1fe70e5c8fde9d61" providerId="LiveId" clId="{8C150BB2-9218-488B-B012-E3F261622E26}" dt="2026-04-09T10:03:50.887" v="1355" actId="255"/>
        <pc:sldMkLst>
          <pc:docMk/>
          <pc:sldMk cId="437141483" sldId="266"/>
        </pc:sldMkLst>
        <pc:spChg chg="add mod">
          <ac:chgData name="ABISHEK S" userId="1fe70e5c8fde9d61" providerId="LiveId" clId="{8C150BB2-9218-488B-B012-E3F261622E26}" dt="2026-04-09T10:03:50.887" v="1355" actId="255"/>
          <ac:spMkLst>
            <pc:docMk/>
            <pc:sldMk cId="437141483" sldId="266"/>
            <ac:spMk id="2" creationId="{7203D2C0-B0E4-842A-D384-D862C62F2BBB}"/>
          </ac:spMkLst>
        </pc:spChg>
        <pc:spChg chg="add del mod">
          <ac:chgData name="ABISHEK S" userId="1fe70e5c8fde9d61" providerId="LiveId" clId="{8C150BB2-9218-488B-B012-E3F261622E26}" dt="2026-04-09T10:02:43.622" v="1304" actId="1076"/>
          <ac:spMkLst>
            <pc:docMk/>
            <pc:sldMk cId="437141483" sldId="266"/>
            <ac:spMk id="3" creationId="{04F0DD3F-23A4-3CD4-A1CF-B11DAAE610E2}"/>
          </ac:spMkLst>
        </pc:spChg>
        <pc:spChg chg="add mod">
          <ac:chgData name="ABISHEK S" userId="1fe70e5c8fde9d61" providerId="LiveId" clId="{8C150BB2-9218-488B-B012-E3F261622E26}" dt="2026-04-09T10:03:32.960" v="1353" actId="20577"/>
          <ac:spMkLst>
            <pc:docMk/>
            <pc:sldMk cId="437141483" sldId="266"/>
            <ac:spMk id="4" creationId="{CF821AFB-99D2-94A5-5489-3E72600DA80F}"/>
          </ac:spMkLst>
        </pc:spChg>
      </pc:sldChg>
      <pc:sldChg chg="delSp modSp new del mod">
        <pc:chgData name="ABISHEK S" userId="1fe70e5c8fde9d61" providerId="LiveId" clId="{8C150BB2-9218-488B-B012-E3F261622E26}" dt="2026-04-09T09:59:27.743" v="1196" actId="47"/>
        <pc:sldMkLst>
          <pc:docMk/>
          <pc:sldMk cId="4190039388" sldId="267"/>
        </pc:sldMkLst>
        <pc:spChg chg="del">
          <ac:chgData name="ABISHEK S" userId="1fe70e5c8fde9d61" providerId="LiveId" clId="{8C150BB2-9218-488B-B012-E3F261622E26}" dt="2026-04-09T09:59:15.177" v="1194" actId="478"/>
          <ac:spMkLst>
            <pc:docMk/>
            <pc:sldMk cId="4190039388" sldId="267"/>
            <ac:spMk id="3" creationId="{DC897F63-7477-CF9D-E690-23A85CB9A7D0}"/>
          </ac:spMkLst>
        </pc:spChg>
        <pc:spChg chg="mod">
          <ac:chgData name="ABISHEK S" userId="1fe70e5c8fde9d61" providerId="LiveId" clId="{8C150BB2-9218-488B-B012-E3F261622E26}" dt="2026-04-09T09:59:18.249" v="1195" actId="5793"/>
          <ac:spMkLst>
            <pc:docMk/>
            <pc:sldMk cId="4190039388" sldId="267"/>
            <ac:spMk id="4" creationId="{46C0AD7C-5C76-9F2C-51F4-009469CBC4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F68CF-3EDD-4F00-957B-83957CBEBAE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75840-DE92-4EF4-860E-4A1194D01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7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75840-DE92-4EF4-860E-4A1194D0194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889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221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4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1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1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51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9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7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4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6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76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1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4/9/2026</a:t>
            </a:fld>
            <a:endParaRPr lang="en-US" sz="1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190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10CD-4DF7-9AAF-CB7D-5AEA07168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0624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lgerian" panose="04020705040A02060702" pitchFamily="82" charset="0"/>
              </a:rPr>
              <a:t>SMART STORAGE AND WAREHOUSING SYSTEM FOR     AGRICULTURAL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9406CD-EE29-7117-758A-BCAD5362E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9974" y="4557009"/>
            <a:ext cx="3342806" cy="1315387"/>
          </a:xfrm>
        </p:spPr>
        <p:txBody>
          <a:bodyPr>
            <a:normAutofit fontScale="92500"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dirty="0"/>
              <a:t>              </a:t>
            </a:r>
            <a:r>
              <a:rPr lang="en-IN" dirty="0">
                <a:latin typeface="Algerian" panose="04020705040A02060702" pitchFamily="82" charset="0"/>
              </a:rPr>
              <a:t>BY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Algerian" panose="04020705040A02060702" pitchFamily="82" charset="0"/>
              </a:rPr>
              <a:t>ABISHEK 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Algerian" panose="04020705040A02060702" pitchFamily="82" charset="0"/>
              </a:rPr>
              <a:t>             953223105301</a:t>
            </a:r>
          </a:p>
        </p:txBody>
      </p:sp>
    </p:spTree>
    <p:extLst>
      <p:ext uri="{BB962C8B-B14F-4D97-AF65-F5344CB8AC3E}">
        <p14:creationId xmlns:p14="http://schemas.microsoft.com/office/powerpoint/2010/main" val="2152867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74EA43-DA90-8483-7F70-0A74A9A15F9B}"/>
              </a:ext>
            </a:extLst>
          </p:cNvPr>
          <p:cNvSpPr txBox="1"/>
          <p:nvPr/>
        </p:nvSpPr>
        <p:spPr>
          <a:xfrm>
            <a:off x="799475" y="299802"/>
            <a:ext cx="1085287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INTRODUCTION:</a:t>
            </a:r>
          </a:p>
          <a:p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            </a:t>
            </a:r>
            <a:r>
              <a:rPr lang="en-US" sz="2000" dirty="0">
                <a:cs typeface="Aharoni" panose="02010803020104030203" pitchFamily="2" charset="-79"/>
              </a:rPr>
              <a:t>Agriculture is a Backbone of every country.  Without  Agricultural  products  No Living            beings can surveyed.</a:t>
            </a:r>
          </a:p>
          <a:p>
            <a:endParaRPr lang="en-US" sz="2000" dirty="0">
              <a:cs typeface="Aharoni" panose="02010803020104030203" pitchFamily="2" charset="-79"/>
            </a:endParaRPr>
          </a:p>
          <a:p>
            <a:r>
              <a:rPr lang="en-US" sz="2000" dirty="0">
                <a:cs typeface="Aharoni" panose="02010803020104030203" pitchFamily="2" charset="-79"/>
              </a:rPr>
              <a:t>                          </a:t>
            </a:r>
            <a:r>
              <a:rPr lang="en-US" sz="2000" dirty="0"/>
              <a:t>This project introduces a </a:t>
            </a:r>
            <a:r>
              <a:rPr lang="en-US" sz="2000" b="1" dirty="0"/>
              <a:t>Smart Storage and Warehousing System for Agricultural Products</a:t>
            </a:r>
            <a:r>
              <a:rPr lang="en-US" sz="2000" dirty="0"/>
              <a:t> using the </a:t>
            </a:r>
            <a:r>
              <a:rPr lang="en-US" sz="2000" b="1" dirty="0"/>
              <a:t>ESP32-CAM module</a:t>
            </a:r>
            <a:r>
              <a:rPr lang="en-US" sz="2000" dirty="0"/>
              <a:t> , ESP32 Microcontroller, QR Label and LCD Display.</a:t>
            </a:r>
          </a:p>
          <a:p>
            <a:endParaRPr lang="en-US" sz="2000" dirty="0"/>
          </a:p>
          <a:p>
            <a:r>
              <a:rPr lang="en-US" sz="2000" dirty="0">
                <a:cs typeface="Aharoni" panose="02010803020104030203" pitchFamily="2" charset="-79"/>
              </a:rPr>
              <a:t>                         </a:t>
            </a:r>
            <a:r>
              <a:rPr lang="en-US" sz="2000" dirty="0"/>
              <a:t> Each storage bag is labeled with a QR code containing pre-measured data such as Product type, Weight, and Owner Name .</a:t>
            </a:r>
          </a:p>
          <a:p>
            <a:endParaRPr lang="en-US" sz="2000" dirty="0"/>
          </a:p>
          <a:p>
            <a:r>
              <a:rPr lang="en-US" sz="2000" dirty="0">
                <a:cs typeface="Aharoni" panose="02010803020104030203" pitchFamily="2" charset="-79"/>
              </a:rPr>
              <a:t>                          </a:t>
            </a:r>
            <a:r>
              <a:rPr lang="en-US" sz="2000" dirty="0"/>
              <a:t>The ESP32-CAM scans the QR code using its onboard camera, decodes the embedded information, and sends it to an LCD display for real-time visualization.</a:t>
            </a:r>
          </a:p>
          <a:p>
            <a:endParaRPr lang="en-US" sz="2000" dirty="0">
              <a:cs typeface="Aharoni" panose="02010803020104030203" pitchFamily="2" charset="-79"/>
            </a:endParaRPr>
          </a:p>
          <a:p>
            <a:r>
              <a:rPr lang="en-US" sz="2000" dirty="0"/>
              <a:t>                            This system streamlines inventory tracking, reduces manual errors, and provides a low-cost, scalable solution for modern agricultural logistics.</a:t>
            </a:r>
          </a:p>
          <a:p>
            <a:endParaRPr lang="en-IN" dirty="0"/>
          </a:p>
        </p:txBody>
      </p:sp>
      <p:sp>
        <p:nvSpPr>
          <p:cNvPr id="3" name="Sun 2">
            <a:extLst>
              <a:ext uri="{FF2B5EF4-FFF2-40B4-BE49-F238E27FC236}">
                <a16:creationId xmlns:a16="http://schemas.microsoft.com/office/drawing/2014/main" id="{D087EC6C-8F93-1B02-934D-440622149E63}"/>
              </a:ext>
            </a:extLst>
          </p:cNvPr>
          <p:cNvSpPr/>
          <p:nvPr/>
        </p:nvSpPr>
        <p:spPr>
          <a:xfrm>
            <a:off x="2068641" y="4732779"/>
            <a:ext cx="209862" cy="209863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un 3">
            <a:extLst>
              <a:ext uri="{FF2B5EF4-FFF2-40B4-BE49-F238E27FC236}">
                <a16:creationId xmlns:a16="http://schemas.microsoft.com/office/drawing/2014/main" id="{EA2AC18B-92CA-ECEF-C591-63EC7DEF9A3A}"/>
              </a:ext>
            </a:extLst>
          </p:cNvPr>
          <p:cNvSpPr/>
          <p:nvPr/>
        </p:nvSpPr>
        <p:spPr>
          <a:xfrm>
            <a:off x="2023670" y="993023"/>
            <a:ext cx="209862" cy="209863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un 4">
            <a:extLst>
              <a:ext uri="{FF2B5EF4-FFF2-40B4-BE49-F238E27FC236}">
                <a16:creationId xmlns:a16="http://schemas.microsoft.com/office/drawing/2014/main" id="{832B6A0B-0F3F-8399-2F26-213401755533}"/>
              </a:ext>
            </a:extLst>
          </p:cNvPr>
          <p:cNvSpPr/>
          <p:nvPr/>
        </p:nvSpPr>
        <p:spPr>
          <a:xfrm>
            <a:off x="2068641" y="2919115"/>
            <a:ext cx="209862" cy="209863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un 5">
            <a:extLst>
              <a:ext uri="{FF2B5EF4-FFF2-40B4-BE49-F238E27FC236}">
                <a16:creationId xmlns:a16="http://schemas.microsoft.com/office/drawing/2014/main" id="{A90A4968-B0F9-8821-C2AE-FBC5615753C1}"/>
              </a:ext>
            </a:extLst>
          </p:cNvPr>
          <p:cNvSpPr/>
          <p:nvPr/>
        </p:nvSpPr>
        <p:spPr>
          <a:xfrm>
            <a:off x="2038658" y="2008535"/>
            <a:ext cx="209862" cy="209863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un 6">
            <a:extLst>
              <a:ext uri="{FF2B5EF4-FFF2-40B4-BE49-F238E27FC236}">
                <a16:creationId xmlns:a16="http://schemas.microsoft.com/office/drawing/2014/main" id="{351821E4-0BDA-3FEA-E7BD-D8C0B0461349}"/>
              </a:ext>
            </a:extLst>
          </p:cNvPr>
          <p:cNvSpPr/>
          <p:nvPr/>
        </p:nvSpPr>
        <p:spPr>
          <a:xfrm>
            <a:off x="2068641" y="3837187"/>
            <a:ext cx="209862" cy="209863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39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74E045-7DF1-6CA0-2E77-1C05C4AFA86A}"/>
              </a:ext>
            </a:extLst>
          </p:cNvPr>
          <p:cNvSpPr txBox="1"/>
          <p:nvPr/>
        </p:nvSpPr>
        <p:spPr>
          <a:xfrm>
            <a:off x="614597" y="389744"/>
            <a:ext cx="109728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masis MT Pro Black" panose="02040A04050005020304" pitchFamily="18" charset="0"/>
              </a:rPr>
              <a:t>NECESSITY OF THE PROJECT:</a:t>
            </a:r>
          </a:p>
          <a:p>
            <a:r>
              <a:rPr lang="en-IN" sz="2800" dirty="0">
                <a:latin typeface="Amasis MT Pro Black" panose="02040A04050005020304" pitchFamily="18" charset="0"/>
              </a:rPr>
              <a:t>   </a:t>
            </a:r>
          </a:p>
          <a:p>
            <a:r>
              <a:rPr lang="en-IN" sz="2800" dirty="0">
                <a:latin typeface="Amasis MT Pro Black" panose="02040A04050005020304" pitchFamily="18" charset="0"/>
              </a:rPr>
              <a:t>            </a:t>
            </a:r>
            <a:r>
              <a:rPr lang="en-IN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Save the Post-harvest products from Spoils and damage.</a:t>
            </a:r>
          </a:p>
          <a:p>
            <a:endParaRPr lang="en-IN" sz="2000" dirty="0"/>
          </a:p>
          <a:p>
            <a:r>
              <a:rPr lang="en-IN" sz="2000" dirty="0"/>
              <a:t>                      </a:t>
            </a:r>
            <a:r>
              <a:rPr lang="en-IN" sz="2000" dirty="0">
                <a:latin typeface="Aharoni" panose="02010803020104030203" pitchFamily="2" charset="-79"/>
                <a:cs typeface="Aharoni" panose="02010803020104030203" pitchFamily="2" charset="-79"/>
              </a:rPr>
              <a:t>Automation of Inventory Tracking </a:t>
            </a:r>
            <a:r>
              <a:rPr lang="en-IN" sz="2000" dirty="0"/>
              <a:t>– Reducing Human Error and Saving Time.</a:t>
            </a:r>
          </a:p>
          <a:p>
            <a:endParaRPr lang="en-IN" sz="2000" dirty="0"/>
          </a:p>
          <a:p>
            <a:r>
              <a:rPr lang="en-IN" sz="2000" dirty="0"/>
              <a:t>                      </a:t>
            </a:r>
            <a:r>
              <a:rPr lang="en-IN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Real-Time Data Display </a:t>
            </a:r>
            <a:r>
              <a:rPr lang="en-IN" sz="2000" dirty="0"/>
              <a:t>– Instantly shows Product Details, which Improves Warehouse</a:t>
            </a:r>
          </a:p>
          <a:p>
            <a:r>
              <a:rPr lang="en-IN" sz="2000" dirty="0"/>
              <a:t>                                                                             Visibility.                   </a:t>
            </a:r>
          </a:p>
          <a:p>
            <a:r>
              <a:rPr lang="en-IN" sz="2000" dirty="0"/>
              <a:t>             </a:t>
            </a:r>
          </a:p>
          <a:p>
            <a:r>
              <a:rPr lang="en-IN" sz="2000" dirty="0"/>
              <a:t>                      </a:t>
            </a:r>
            <a:r>
              <a:rPr lang="en-IN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Improved Accuracy </a:t>
            </a:r>
            <a:r>
              <a:rPr lang="en-IN" sz="2000" dirty="0"/>
              <a:t>– Ensures Precise Identification of Stored Products.</a:t>
            </a:r>
          </a:p>
          <a:p>
            <a:endParaRPr lang="en-IN" sz="2000" dirty="0"/>
          </a:p>
          <a:p>
            <a:r>
              <a:rPr lang="en-IN" sz="2000" dirty="0"/>
              <a:t>                      </a:t>
            </a:r>
            <a:r>
              <a:rPr lang="en-IN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Enhanced Efficiency </a:t>
            </a:r>
            <a:r>
              <a:rPr lang="en-IN" sz="2000" dirty="0"/>
              <a:t>– Process and Dispatch operations are Speeds  Up.</a:t>
            </a:r>
          </a:p>
          <a:p>
            <a:r>
              <a:rPr lang="en-IN" sz="2000" dirty="0"/>
              <a:t>             </a:t>
            </a:r>
          </a:p>
          <a:p>
            <a:r>
              <a:rPr lang="en-IN" sz="2000" dirty="0"/>
              <a:t>                      </a:t>
            </a:r>
            <a:r>
              <a:rPr lang="en-IN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Cost – Effective Solution </a:t>
            </a:r>
            <a:r>
              <a:rPr lang="en-IN" sz="2000" dirty="0"/>
              <a:t>– Uses Cost Effective Components.</a:t>
            </a:r>
          </a:p>
          <a:p>
            <a:endParaRPr lang="en-IN" sz="2000" dirty="0"/>
          </a:p>
          <a:p>
            <a:r>
              <a:rPr lang="en-IN" sz="2000" dirty="0"/>
              <a:t>                             </a:t>
            </a:r>
          </a:p>
          <a:p>
            <a:r>
              <a:rPr lang="en-IN" sz="2000" dirty="0"/>
              <a:t>                      </a:t>
            </a:r>
            <a:endParaRPr lang="en-IN" sz="2800" dirty="0"/>
          </a:p>
          <a:p>
            <a:r>
              <a:rPr lang="en-IN" sz="2800" dirty="0">
                <a:latin typeface="Amasis MT Pro Black" panose="02040A04050005020304" pitchFamily="18" charset="0"/>
              </a:rPr>
              <a:t>                        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4EA23172-18D0-D46B-DBE9-3D386128D49D}"/>
              </a:ext>
            </a:extLst>
          </p:cNvPr>
          <p:cNvSpPr/>
          <p:nvPr/>
        </p:nvSpPr>
        <p:spPr>
          <a:xfrm flipH="1">
            <a:off x="1648919" y="1313022"/>
            <a:ext cx="224852" cy="28481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F6CB8FAA-5080-A94E-932F-E4EE572B6BFA}"/>
              </a:ext>
            </a:extLst>
          </p:cNvPr>
          <p:cNvSpPr/>
          <p:nvPr/>
        </p:nvSpPr>
        <p:spPr>
          <a:xfrm flipH="1">
            <a:off x="1656415" y="2021030"/>
            <a:ext cx="224852" cy="28481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B1B8FF48-F2C4-93EB-3115-E8E6B9B57E94}"/>
              </a:ext>
            </a:extLst>
          </p:cNvPr>
          <p:cNvSpPr/>
          <p:nvPr/>
        </p:nvSpPr>
        <p:spPr>
          <a:xfrm flipH="1">
            <a:off x="1648919" y="4660180"/>
            <a:ext cx="224852" cy="28481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88178FB1-2CED-C6DA-AF46-1D250B15BFDA}"/>
              </a:ext>
            </a:extLst>
          </p:cNvPr>
          <p:cNvSpPr/>
          <p:nvPr/>
        </p:nvSpPr>
        <p:spPr>
          <a:xfrm flipH="1">
            <a:off x="1648919" y="4094579"/>
            <a:ext cx="224852" cy="28481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6AFCD740-6F2A-E855-00B8-426E1750B4E4}"/>
              </a:ext>
            </a:extLst>
          </p:cNvPr>
          <p:cNvSpPr/>
          <p:nvPr/>
        </p:nvSpPr>
        <p:spPr>
          <a:xfrm flipH="1">
            <a:off x="1663911" y="3509909"/>
            <a:ext cx="224852" cy="28481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B61AF709-0C63-2EFB-6361-21EC526D99F2}"/>
              </a:ext>
            </a:extLst>
          </p:cNvPr>
          <p:cNvSpPr/>
          <p:nvPr/>
        </p:nvSpPr>
        <p:spPr>
          <a:xfrm flipH="1">
            <a:off x="1663911" y="2586631"/>
            <a:ext cx="224852" cy="28481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665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32F927-EA6C-B510-2F6F-F4EAFF54908C}"/>
              </a:ext>
            </a:extLst>
          </p:cNvPr>
          <p:cNvSpPr txBox="1"/>
          <p:nvPr/>
        </p:nvSpPr>
        <p:spPr>
          <a:xfrm>
            <a:off x="269823" y="344774"/>
            <a:ext cx="116023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</a:t>
            </a:r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GRAPHICAL REPRESENTATION:</a:t>
            </a:r>
          </a:p>
          <a:p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   </a:t>
            </a:r>
          </a:p>
          <a:p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2192B-E134-54A8-ECFD-2D2B8B514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007" y="1051148"/>
            <a:ext cx="8926018" cy="556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2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8A37E5-5DF1-4FC4-F357-E73965A0CEDB}"/>
              </a:ext>
            </a:extLst>
          </p:cNvPr>
          <p:cNvSpPr txBox="1"/>
          <p:nvPr/>
        </p:nvSpPr>
        <p:spPr>
          <a:xfrm>
            <a:off x="334781" y="284813"/>
            <a:ext cx="115224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 Rounded MT Bold" panose="020F0704030504030204" pitchFamily="34" charset="0"/>
              </a:rPr>
              <a:t>COMPONENETS USED:</a:t>
            </a:r>
          </a:p>
          <a:p>
            <a:r>
              <a:rPr lang="en-IN" sz="2400" dirty="0">
                <a:latin typeface="Arial Rounded MT Bold" panose="020F0704030504030204" pitchFamily="34" charset="0"/>
              </a:rPr>
              <a:t>                    </a:t>
            </a:r>
          </a:p>
          <a:p>
            <a:r>
              <a:rPr lang="en-IN" sz="2400" dirty="0">
                <a:latin typeface="Arial Rounded MT Bold" panose="020F0704030504030204" pitchFamily="34" charset="0"/>
              </a:rPr>
              <a:t>                   </a:t>
            </a:r>
            <a:r>
              <a:rPr lang="en-IN" sz="2000" dirty="0">
                <a:latin typeface="Arial Rounded MT Bold" panose="020F0704030504030204" pitchFamily="34" charset="0"/>
              </a:rPr>
              <a:t>ESP32 - CAM MODULE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 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      ESP32 BOARD</a:t>
            </a:r>
          </a:p>
          <a:p>
            <a:endParaRPr lang="en-IN" sz="2000" dirty="0">
              <a:latin typeface="Arial Rounded MT Bold" panose="020F0704030504030204" pitchFamily="34" charset="0"/>
            </a:endParaRP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      QR CODE STICKER</a:t>
            </a:r>
          </a:p>
          <a:p>
            <a:endParaRPr lang="en-IN" sz="2000" dirty="0">
              <a:latin typeface="Arial Rounded MT Bold" panose="020F0704030504030204" pitchFamily="34" charset="0"/>
            </a:endParaRP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      16*2 LCD DISPLAY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        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      CONNECTING JACK WIRES </a:t>
            </a:r>
            <a:endParaRPr lang="en-IN" sz="2400" dirty="0">
              <a:latin typeface="Arial Rounded MT Bold" panose="020F0704030504030204" pitchFamily="34" charset="0"/>
            </a:endParaRPr>
          </a:p>
          <a:p>
            <a:r>
              <a:rPr lang="en-IN" sz="2400" dirty="0">
                <a:latin typeface="Arial Rounded MT Bold" panose="020F0704030504030204" pitchFamily="34" charset="0"/>
              </a:rPr>
              <a:t>                   </a:t>
            </a:r>
          </a:p>
          <a:p>
            <a:r>
              <a:rPr lang="en-IN" sz="2400" dirty="0">
                <a:latin typeface="Arial Rounded MT Bold" panose="020F0704030504030204" pitchFamily="34" charset="0"/>
              </a:rPr>
              <a:t>                     </a:t>
            </a:r>
            <a:r>
              <a:rPr lang="en-IN" sz="2000" dirty="0">
                <a:latin typeface="Arial Rounded MT Bold" panose="020F0704030504030204" pitchFamily="34" charset="0"/>
              </a:rPr>
              <a:t> </a:t>
            </a:r>
            <a:r>
              <a:rPr lang="en-IN" sz="2400" dirty="0">
                <a:latin typeface="Arial Rounded MT Bold" panose="020F0704030504030204" pitchFamily="34" charset="0"/>
              </a:rPr>
              <a:t>               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E1FAB415-97D6-68F2-EF53-744EFF45EB91}"/>
              </a:ext>
            </a:extLst>
          </p:cNvPr>
          <p:cNvSpPr/>
          <p:nvPr/>
        </p:nvSpPr>
        <p:spPr>
          <a:xfrm>
            <a:off x="1484026" y="1195466"/>
            <a:ext cx="329784" cy="188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AEB0AB2-FD43-4111-7570-2E73FC2B95B4}"/>
              </a:ext>
            </a:extLst>
          </p:cNvPr>
          <p:cNvSpPr/>
          <p:nvPr/>
        </p:nvSpPr>
        <p:spPr>
          <a:xfrm>
            <a:off x="1484026" y="1797571"/>
            <a:ext cx="329784" cy="188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CDC940C-F511-B004-87CC-45EEF5DBCDC6}"/>
              </a:ext>
            </a:extLst>
          </p:cNvPr>
          <p:cNvSpPr/>
          <p:nvPr/>
        </p:nvSpPr>
        <p:spPr>
          <a:xfrm>
            <a:off x="1484026" y="2399676"/>
            <a:ext cx="329784" cy="188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C6A7579-0D8D-EB7F-214F-676260DA99C1}"/>
              </a:ext>
            </a:extLst>
          </p:cNvPr>
          <p:cNvSpPr/>
          <p:nvPr/>
        </p:nvSpPr>
        <p:spPr>
          <a:xfrm>
            <a:off x="1484026" y="3001781"/>
            <a:ext cx="329784" cy="188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552A447-79F4-3904-1399-CD5F3E17A362}"/>
              </a:ext>
            </a:extLst>
          </p:cNvPr>
          <p:cNvSpPr/>
          <p:nvPr/>
        </p:nvSpPr>
        <p:spPr>
          <a:xfrm>
            <a:off x="1484026" y="3603886"/>
            <a:ext cx="329784" cy="1885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96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80FE6C-BE41-E492-7D00-3F398F1C46A4}"/>
              </a:ext>
            </a:extLst>
          </p:cNvPr>
          <p:cNvSpPr txBox="1"/>
          <p:nvPr/>
        </p:nvSpPr>
        <p:spPr>
          <a:xfrm>
            <a:off x="304800" y="217357"/>
            <a:ext cx="115824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      </a:t>
            </a:r>
            <a:r>
              <a:rPr lang="en-IN" sz="2800" dirty="0">
                <a:latin typeface="Algerian" panose="04020705040A02060702" pitchFamily="82" charset="0"/>
              </a:rPr>
              <a:t>BLOCK  DIAGRAM</a:t>
            </a:r>
            <a:r>
              <a:rPr lang="en-IN" dirty="0">
                <a:latin typeface="Algerian" panose="04020705040A02060702" pitchFamily="82" charset="0"/>
              </a:rPr>
              <a:t>:</a:t>
            </a:r>
          </a:p>
          <a:p>
            <a:endParaRPr lang="en-IN" dirty="0">
              <a:latin typeface="Algerian" panose="04020705040A02060702" pitchFamily="82" charset="0"/>
            </a:endParaRPr>
          </a:p>
          <a:p>
            <a:r>
              <a:rPr lang="en-IN" dirty="0">
                <a:latin typeface="Algerian" panose="04020705040A02060702" pitchFamily="82" charset="0"/>
              </a:rPr>
              <a:t>                             </a:t>
            </a:r>
          </a:p>
          <a:p>
            <a:endParaRPr lang="en-IN" dirty="0">
              <a:latin typeface="Algerian" panose="04020705040A02060702" pitchFamily="82" charset="0"/>
            </a:endParaRPr>
          </a:p>
          <a:p>
            <a:r>
              <a:rPr lang="en-IN" dirty="0">
                <a:latin typeface="Algerian" panose="04020705040A02060702" pitchFamily="82" charset="0"/>
              </a:rPr>
              <a:t>                                             </a:t>
            </a:r>
          </a:p>
          <a:p>
            <a:r>
              <a:rPr lang="en-IN" dirty="0">
                <a:latin typeface="Algerian" panose="04020705040A02060702" pitchFamily="82" charset="0"/>
              </a:rPr>
              <a:t>                               </a:t>
            </a:r>
          </a:p>
          <a:p>
            <a:endParaRPr lang="en-IN" dirty="0">
              <a:latin typeface="Algerian" panose="04020705040A02060702" pitchFamily="82" charset="0"/>
            </a:endParaRPr>
          </a:p>
          <a:p>
            <a:r>
              <a:rPr lang="en-IN" dirty="0">
                <a:latin typeface="Algerian" panose="04020705040A02060702" pitchFamily="82" charset="0"/>
              </a:rPr>
              <a:t>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8E2BC-D031-93B4-5852-FF4086C4F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13" y="719528"/>
            <a:ext cx="10403174" cy="535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327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30B485-5736-2382-C56C-1F9FC1BB8E61}"/>
              </a:ext>
            </a:extLst>
          </p:cNvPr>
          <p:cNvSpPr txBox="1"/>
          <p:nvPr/>
        </p:nvSpPr>
        <p:spPr>
          <a:xfrm>
            <a:off x="299803" y="374754"/>
            <a:ext cx="115724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masis MT Pro Black" panose="02040A04050005020304" pitchFamily="18" charset="0"/>
              </a:rPr>
              <a:t>HARDWARE CONNECTION:</a:t>
            </a:r>
          </a:p>
          <a:p>
            <a:endParaRPr lang="en-IN" sz="2400" dirty="0">
              <a:latin typeface="Amasis MT Pro Black" panose="02040A04050005020304" pitchFamily="18" charset="0"/>
            </a:endParaRPr>
          </a:p>
          <a:p>
            <a:r>
              <a:rPr lang="en-IN" sz="2400" dirty="0">
                <a:latin typeface="Amasis MT Pro Black" panose="02040A04050005020304" pitchFamily="18" charset="0"/>
              </a:rPr>
              <a:t>      </a:t>
            </a:r>
          </a:p>
          <a:p>
            <a:r>
              <a:rPr lang="en-IN" sz="2400" dirty="0">
                <a:latin typeface="Amasis MT Pro Black" panose="02040A04050005020304" pitchFamily="18" charset="0"/>
              </a:rPr>
              <a:t>            </a:t>
            </a:r>
          </a:p>
          <a:p>
            <a:endParaRPr lang="en-IN" sz="2400" dirty="0">
              <a:latin typeface="Amasis MT Pro Black" panose="02040A040500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32E771-EB62-0D57-6D95-508FD6B48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81" y="899410"/>
            <a:ext cx="10154249" cy="577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50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03D2C0-B0E4-842A-D384-D862C62F2BBB}"/>
              </a:ext>
            </a:extLst>
          </p:cNvPr>
          <p:cNvSpPr txBox="1"/>
          <p:nvPr/>
        </p:nvSpPr>
        <p:spPr>
          <a:xfrm>
            <a:off x="394741" y="524656"/>
            <a:ext cx="11402518" cy="498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lgerian" panose="04020705040A02060702" pitchFamily="82" charset="0"/>
              </a:rPr>
              <a:t>CODING: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#include "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esp_camera.h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"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#include &lt;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WiFi.h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const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char*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ssid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= "YOUR_WIFI_SSID";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const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char* password = "YOUR_WIFI_PASSWORD"; 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#define CAMERA_MODEL_AI_THINKER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#include "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camera_pins.h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"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void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startCameraServer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void setup() {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Serial.begin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(115200);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Serial.setDebugOutput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(true);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Serial.println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WiFi.begin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ssid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password);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WiFi.begin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ssid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password);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0DD3F-23A4-3CD4-A1CF-B11DAAE610E2}"/>
              </a:ext>
            </a:extLst>
          </p:cNvPr>
          <p:cNvSpPr txBox="1"/>
          <p:nvPr/>
        </p:nvSpPr>
        <p:spPr>
          <a:xfrm>
            <a:off x="6235908" y="461981"/>
            <a:ext cx="4871804" cy="5621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21AFB-99D2-94A5-5489-3E72600DA80F}"/>
              </a:ext>
            </a:extLst>
          </p:cNvPr>
          <p:cNvSpPr txBox="1"/>
          <p:nvPr/>
        </p:nvSpPr>
        <p:spPr>
          <a:xfrm>
            <a:off x="6096000" y="524656"/>
            <a:ext cx="57012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dirty="0"/>
              <a:t>  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while (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WiFi.status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() != WL_CONNECTED) {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delay(500);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Serial.print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(".");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}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Serial.println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("");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Serial.println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("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WiFi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connected");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Serial.println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("Camera ready! Use 'http://' + IP      to connect");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Serial.println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WiFi.localIP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());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</a:t>
            </a:r>
            <a:r>
              <a:rPr lang="en-IN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startCameraServer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();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}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void loop() {</a:t>
            </a:r>
          </a:p>
          <a:p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437141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438CAB-64A3-A617-8ADB-A3724D06600D}"/>
              </a:ext>
            </a:extLst>
          </p:cNvPr>
          <p:cNvSpPr txBox="1"/>
          <p:nvPr/>
        </p:nvSpPr>
        <p:spPr>
          <a:xfrm>
            <a:off x="434715" y="359764"/>
            <a:ext cx="1136254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PROJECT  OBJECTIVE :</a:t>
            </a:r>
          </a:p>
          <a:p>
            <a:endParaRPr lang="en-IN" sz="2400" dirty="0">
              <a:latin typeface="Algerian" panose="04020705040A02060702" pitchFamily="82" charset="0"/>
            </a:endParaRPr>
          </a:p>
          <a:p>
            <a:r>
              <a:rPr lang="en-IN" sz="2400" dirty="0">
                <a:latin typeface="Algerian" panose="04020705040A02060702" pitchFamily="82" charset="0"/>
              </a:rPr>
              <a:t>               </a:t>
            </a:r>
            <a:r>
              <a:rPr lang="en-IN" sz="2000" dirty="0">
                <a:latin typeface="Arial Rounded MT Bold" panose="020F0704030504030204" pitchFamily="34" charset="0"/>
              </a:rPr>
              <a:t>1. To Automate the Identification and Tracking of Storage Bags.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  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 2. Displaying the Information on a LCD Display.</a:t>
            </a:r>
          </a:p>
          <a:p>
            <a:endParaRPr lang="en-IN" sz="2000" dirty="0">
              <a:latin typeface="Arial Rounded MT Bold" panose="020F0704030504030204" pitchFamily="34" charset="0"/>
            </a:endParaRP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 3. Which Improves Warehouse Efficiency and Reduce Manual Errors.</a:t>
            </a:r>
          </a:p>
          <a:p>
            <a:endParaRPr lang="en-IN" sz="2000" dirty="0">
              <a:latin typeface="Arial Rounded MT Bold" panose="020F0704030504030204" pitchFamily="34" charset="0"/>
            </a:endParaRP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 4. Provide  Reliable , Efficient  and  Low – Cost  Solution for Real Time 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       Monitoring of Post – Harvest  Products for Farmers. 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 </a:t>
            </a:r>
          </a:p>
          <a:p>
            <a:endParaRPr lang="en-IN" sz="24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357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66FFD4-436D-18C4-75B3-BF3FC6538641}"/>
              </a:ext>
            </a:extLst>
          </p:cNvPr>
          <p:cNvSpPr txBox="1"/>
          <p:nvPr/>
        </p:nvSpPr>
        <p:spPr>
          <a:xfrm>
            <a:off x="389744" y="269823"/>
            <a:ext cx="1140751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    APPLICATION :</a:t>
            </a:r>
          </a:p>
          <a:p>
            <a:endParaRPr lang="en-IN" sz="2400" dirty="0">
              <a:latin typeface="Algerian" panose="04020705040A02060702" pitchFamily="82" charset="0"/>
            </a:endParaRPr>
          </a:p>
          <a:p>
            <a:r>
              <a:rPr lang="en-IN" sz="2400" dirty="0">
                <a:latin typeface="Algerian" panose="04020705040A02060702" pitchFamily="82" charset="0"/>
              </a:rPr>
              <a:t>                </a:t>
            </a:r>
            <a:r>
              <a:rPr lang="en-IN" sz="2000" dirty="0">
                <a:latin typeface="Algerian" panose="04020705040A02060702" pitchFamily="82" charset="0"/>
              </a:rPr>
              <a:t>1. agricultural warehousing</a:t>
            </a:r>
          </a:p>
          <a:p>
            <a:r>
              <a:rPr lang="en-IN" sz="2000" dirty="0">
                <a:latin typeface="Algerian" panose="04020705040A02060702" pitchFamily="82" charset="0"/>
              </a:rPr>
              <a:t>                     </a:t>
            </a:r>
          </a:p>
          <a:p>
            <a:r>
              <a:rPr lang="en-IN" sz="2000" dirty="0">
                <a:latin typeface="Algerian" panose="04020705040A02060702" pitchFamily="82" charset="0"/>
              </a:rPr>
              <a:t>                    2. library or book storage</a:t>
            </a:r>
          </a:p>
          <a:p>
            <a:endParaRPr lang="en-IN" sz="2000" dirty="0">
              <a:latin typeface="Algerian" panose="04020705040A02060702" pitchFamily="82" charset="0"/>
            </a:endParaRPr>
          </a:p>
          <a:p>
            <a:r>
              <a:rPr lang="en-IN" sz="2000" dirty="0">
                <a:latin typeface="Algerian" panose="04020705040A02060702" pitchFamily="82" charset="0"/>
              </a:rPr>
              <a:t>                    3. pharmaceutical storage</a:t>
            </a:r>
          </a:p>
          <a:p>
            <a:endParaRPr lang="en-IN" sz="2000" dirty="0">
              <a:latin typeface="Algerian" panose="04020705040A02060702" pitchFamily="82" charset="0"/>
            </a:endParaRPr>
          </a:p>
          <a:p>
            <a:r>
              <a:rPr lang="en-IN" sz="2000" dirty="0">
                <a:latin typeface="Algerian" panose="04020705040A02060702" pitchFamily="82" charset="0"/>
              </a:rPr>
              <a:t>                    4. logistics &amp; packaging units</a:t>
            </a:r>
          </a:p>
          <a:p>
            <a:endParaRPr lang="en-IN" sz="2000" dirty="0">
              <a:latin typeface="Algerian" panose="04020705040A02060702" pitchFamily="82" charset="0"/>
            </a:endParaRPr>
          </a:p>
          <a:p>
            <a:r>
              <a:rPr lang="en-IN" sz="2000" dirty="0">
                <a:latin typeface="Algerian" panose="04020705040A02060702" pitchFamily="82" charset="0"/>
              </a:rPr>
              <a:t>                    5. retail inventory systems</a:t>
            </a:r>
          </a:p>
          <a:p>
            <a:r>
              <a:rPr lang="en-IN" sz="2000" dirty="0">
                <a:latin typeface="Algerian" panose="04020705040A02060702" pitchFamily="82" charset="0"/>
              </a:rPr>
              <a:t>           </a:t>
            </a:r>
          </a:p>
          <a:p>
            <a:r>
              <a:rPr lang="en-IN" sz="2000" dirty="0">
                <a:latin typeface="Algerian" panose="04020705040A02060702" pitchFamily="82" charset="0"/>
              </a:rPr>
              <a:t>                    6. educational demonstration</a:t>
            </a:r>
          </a:p>
          <a:p>
            <a:endParaRPr lang="en-IN" sz="2000" dirty="0">
              <a:latin typeface="Algerian" panose="04020705040A02060702" pitchFamily="82" charset="0"/>
            </a:endParaRPr>
          </a:p>
          <a:p>
            <a:r>
              <a:rPr lang="en-IN" sz="2000" dirty="0">
                <a:latin typeface="Algerian" panose="04020705040A02060702" pitchFamily="82" charset="0"/>
              </a:rPr>
              <a:t>                    7. food supply chain management</a:t>
            </a:r>
          </a:p>
          <a:p>
            <a:r>
              <a:rPr lang="en-IN" sz="2000" dirty="0">
                <a:latin typeface="Algerian" panose="04020705040A02060702" pitchFamily="82" charset="0"/>
              </a:rPr>
              <a:t> </a:t>
            </a:r>
          </a:p>
          <a:p>
            <a:r>
              <a:rPr lang="en-IN" sz="2000" dirty="0">
                <a:latin typeface="Algerian" panose="04020705040A02060702" pitchFamily="82" charset="0"/>
              </a:rPr>
              <a:t>                     8. cost – effective  automation </a:t>
            </a:r>
            <a:endParaRPr lang="en-IN" sz="2400" dirty="0">
              <a:latin typeface="Algerian" panose="04020705040A02060702" pitchFamily="82" charset="0"/>
            </a:endParaRPr>
          </a:p>
          <a:p>
            <a:endParaRPr lang="en-IN" sz="2400" dirty="0">
              <a:latin typeface="Algerian" panose="04020705040A02060702" pitchFamily="82" charset="0"/>
            </a:endParaRPr>
          </a:p>
          <a:p>
            <a:r>
              <a:rPr lang="en-IN" sz="2400" dirty="0">
                <a:latin typeface="Algerian" panose="04020705040A02060702" pitchFamily="82" charset="0"/>
              </a:rPr>
              <a:t>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41089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7533B0-0EFC-B5B4-3973-247A889B10B2}"/>
              </a:ext>
            </a:extLst>
          </p:cNvPr>
          <p:cNvSpPr txBox="1"/>
          <p:nvPr/>
        </p:nvSpPr>
        <p:spPr>
          <a:xfrm>
            <a:off x="389744" y="359764"/>
            <a:ext cx="115124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masis MT Pro Black" panose="02040A04050005020304" pitchFamily="18" charset="0"/>
              </a:rPr>
              <a:t>CONCLUSION:</a:t>
            </a:r>
          </a:p>
          <a:p>
            <a:endParaRPr lang="en-IN" sz="2400" dirty="0">
              <a:latin typeface="Amasis MT Pro Black" panose="02040A04050005020304" pitchFamily="18" charset="0"/>
            </a:endParaRPr>
          </a:p>
          <a:p>
            <a:r>
              <a:rPr lang="en-IN" sz="2400" dirty="0">
                <a:latin typeface="Amasis MT Pro Black" panose="02040A04050005020304" pitchFamily="18" charset="0"/>
              </a:rPr>
              <a:t>           </a:t>
            </a:r>
            <a:r>
              <a:rPr lang="en-IN" sz="2000" dirty="0">
                <a:latin typeface="Arial Rounded MT Bold" panose="020F0704030504030204" pitchFamily="34" charset="0"/>
              </a:rPr>
              <a:t>1. The System Proves that Combining ESP32-CAM Module with ESP32 Dev 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  Module  Provide  Robust Platform for Smart Storage Applications.</a:t>
            </a:r>
          </a:p>
          <a:p>
            <a:endParaRPr lang="en-IN" sz="2000" dirty="0">
              <a:latin typeface="Arial Rounded MT Bold" panose="020F0704030504030204" pitchFamily="34" charset="0"/>
            </a:endParaRPr>
          </a:p>
          <a:p>
            <a:r>
              <a:rPr lang="en-IN" sz="2000" dirty="0">
                <a:latin typeface="Arial Rounded MT Bold" panose="020F0704030504030204" pitchFamily="34" charset="0"/>
              </a:rPr>
              <a:t>                 2. And this has an Potential to Integrate with Cloud Server , Mobile App and </a:t>
            </a:r>
          </a:p>
          <a:p>
            <a:r>
              <a:rPr lang="en-IN" sz="2000" dirty="0">
                <a:latin typeface="Arial Rounded MT Bold" panose="020F0704030504030204" pitchFamily="34" charset="0"/>
              </a:rPr>
              <a:t>Sensor Based Monitoring for to further enhance Agricultural Logistics. </a:t>
            </a:r>
          </a:p>
          <a:p>
            <a:endParaRPr lang="en-IN" sz="2000" dirty="0">
              <a:latin typeface="Arial Rounded MT Bold" panose="020F0704030504030204" pitchFamily="34" charset="0"/>
            </a:endParaRPr>
          </a:p>
          <a:p>
            <a:r>
              <a:rPr lang="en-IN" sz="2000">
                <a:latin typeface="Arial Rounded MT Bold" panose="020F0704030504030204" pitchFamily="34" charset="0"/>
              </a:rPr>
              <a:t>                    </a:t>
            </a:r>
            <a:endParaRPr lang="en-IN" sz="2000" dirty="0">
              <a:latin typeface="Arial Rounded MT Bold" panose="020F0704030504030204" pitchFamily="34" charset="0"/>
            </a:endParaRPr>
          </a:p>
          <a:p>
            <a:endParaRPr lang="en-IN" sz="2400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65506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Custom 30">
      <a:dk1>
        <a:sysClr val="windowText" lastClr="000000"/>
      </a:dk1>
      <a:lt1>
        <a:sysClr val="window" lastClr="FFFFFF"/>
      </a:lt1>
      <a:dk2>
        <a:srgbClr val="420023"/>
      </a:dk2>
      <a:lt2>
        <a:srgbClr val="FDFBF9"/>
      </a:lt2>
      <a:accent1>
        <a:srgbClr val="97446E"/>
      </a:accent1>
      <a:accent2>
        <a:srgbClr val="A40056"/>
      </a:accent2>
      <a:accent3>
        <a:srgbClr val="24BEEE"/>
      </a:accent3>
      <a:accent4>
        <a:srgbClr val="91274F"/>
      </a:accent4>
      <a:accent5>
        <a:srgbClr val="F39E29"/>
      </a:accent5>
      <a:accent6>
        <a:srgbClr val="E87450"/>
      </a:accent6>
      <a:hlink>
        <a:srgbClr val="F55D5D"/>
      </a:hlink>
      <a:folHlink>
        <a:srgbClr val="EA3A60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631</Words>
  <Application>Microsoft Office PowerPoint</Application>
  <PresentationFormat>Widescreen</PresentationFormat>
  <Paragraphs>132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ADLaM Display</vt:lpstr>
      <vt:lpstr>Aharoni</vt:lpstr>
      <vt:lpstr>Algerian</vt:lpstr>
      <vt:lpstr>Amasis MT Pro Black</vt:lpstr>
      <vt:lpstr>Aptos</vt:lpstr>
      <vt:lpstr>Arial</vt:lpstr>
      <vt:lpstr>Arial Rounded MT Bold</vt:lpstr>
      <vt:lpstr>Calibri</vt:lpstr>
      <vt:lpstr>Gill Sans Nova</vt:lpstr>
      <vt:lpstr>ConfettiVTI</vt:lpstr>
      <vt:lpstr>SMART STORAGE AND WAREHOUSING SYSTEM FOR     AGRICULTURAL PRODUCTS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S0785287</dc:creator>
  <cp:lastModifiedBy>S0785287</cp:lastModifiedBy>
  <cp:revision>4</cp:revision>
  <dcterms:created xsi:type="dcterms:W3CDTF">2026-03-23T09:06:35Z</dcterms:created>
  <dcterms:modified xsi:type="dcterms:W3CDTF">2026-04-09T10:03:51Z</dcterms:modified>
</cp:coreProperties>
</file>